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Teaching APEXA any beamline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Calibri"/>
              </a:defRPr>
            </a:pPr>
            <a:r>
              <a:t>Technique-capsule engine  ·  committed c14130b  ·  zero per-technique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56692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Adopt a new technique by vendoring its MIDAS docs — the engine auto-discovers it. No new Python.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057400" cy="1051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300" b="1">
                <a:solidFill>
                  <a:srgbClr val="002B5C"/>
                </a:solidFill>
                <a:latin typeface="Calibri"/>
              </a:defRPr>
            </a:pPr>
            <a:r>
              <a:t>MIDAS manuals</a:t>
            </a:r>
          </a:p>
          <a:p>
            <a:pPr algn="ctr">
              <a:defRPr sz="1050">
                <a:solidFill>
                  <a:srgbClr val="333333"/>
                </a:solidFill>
                <a:latin typeface="Calibri"/>
              </a:defRPr>
            </a:pPr>
            <a:r>
              <a:t>source of truth</a:t>
            </a:r>
            <a:br/>
            <a:r>
              <a:t>ff · nf · pf · dfxm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148840"/>
            <a:ext cx="2057400" cy="1051560"/>
          </a:xfrm>
          <a:prstGeom prst="roundRect">
            <a:avLst/>
          </a:prstGeom>
          <a:solidFill>
            <a:srgbClr val="BB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250" b="1">
                <a:solidFill>
                  <a:srgbClr val="002B5C"/>
                </a:solidFill>
                <a:latin typeface="Calibri"/>
              </a:defRPr>
            </a:pPr>
            <a:r>
              <a:t>sync_midas_capsules.py</a:t>
            </a:r>
          </a:p>
          <a:p>
            <a:pPr algn="ctr">
              <a:defRPr sz="1050">
                <a:solidFill>
                  <a:srgbClr val="333333"/>
                </a:solidFill>
                <a:latin typeface="Calibri"/>
              </a:defRPr>
            </a:pPr>
            <a:r>
              <a:t>structural sync</a:t>
            </a:r>
            <a:br/>
            <a:r>
              <a:t>--check drift · _pin.json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2148840"/>
            <a:ext cx="2057400" cy="1051560"/>
          </a:xfrm>
          <a:prstGeom prst="roundRect">
            <a:avLst/>
          </a:prstGeom>
          <a:solidFill>
            <a:srgbClr val="BB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200" b="1">
                <a:solidFill>
                  <a:srgbClr val="002B5C"/>
                </a:solidFill>
                <a:latin typeface="Calibri"/>
              </a:defRPr>
            </a:pPr>
            <a:r>
              <a:t>knowledge_base/capsules/</a:t>
            </a:r>
          </a:p>
          <a:p>
            <a:pPr algn="ctr">
              <a:defRPr sz="1050">
                <a:solidFill>
                  <a:srgbClr val="333333"/>
                </a:solidFill>
                <a:latin typeface="Calibri"/>
              </a:defRPr>
            </a:pPr>
            <a:r>
              <a:t>49 vendored docs</a:t>
            </a:r>
            <a:br/>
            <a:r>
              <a:t>pinned @4225c760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148840"/>
            <a:ext cx="2057400" cy="1051560"/>
          </a:xfrm>
          <a:prstGeom prst="round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capsule_registry.py</a:t>
            </a:r>
          </a:p>
          <a:p>
            <a:pPr algn="ctr">
              <a:defRPr sz="1050">
                <a:solidFill>
                  <a:srgbClr val="FFFFFF"/>
                </a:solidFill>
                <a:latin typeface="Calibri"/>
              </a:defRPr>
            </a:pPr>
            <a:r>
              <a:t>stdlib · lru_cache</a:t>
            </a:r>
            <a:br/>
            <a:r>
              <a:t>fail-open accessor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2148840"/>
            <a:ext cx="2057400" cy="1051560"/>
          </a:xfrm>
          <a:prstGeom prst="roundRect">
            <a:avLst/>
          </a:prstGeom>
          <a:solidFill>
            <a:srgbClr val="E8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 turn</a:t>
            </a:r>
          </a:p>
          <a:p>
            <a:pPr algn="ctr">
              <a:defRPr sz="1050">
                <a:solidFill>
                  <a:srgbClr val="FFFFFF"/>
                </a:solidFill>
                <a:latin typeface="Calibri"/>
              </a:defRPr>
            </a:pPr>
            <a:r>
              <a:t>spine · scope · lint</a:t>
            </a:r>
            <a:br/>
            <a:r>
              <a:t>injected in-context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78608" y="2532888"/>
            <a:ext cx="292608" cy="292608"/>
          </a:xfrm>
          <a:prstGeom prst="rightArrow">
            <a:avLst/>
          </a:prstGeom>
          <a:solidFill>
            <a:srgbClr val="E8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956048" y="2532888"/>
            <a:ext cx="292608" cy="292608"/>
          </a:xfrm>
          <a:prstGeom prst="rightArrow">
            <a:avLst/>
          </a:prstGeom>
          <a:solidFill>
            <a:srgbClr val="E8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333488" y="2532888"/>
            <a:ext cx="292608" cy="292608"/>
          </a:xfrm>
          <a:prstGeom prst="rightArrow">
            <a:avLst/>
          </a:prstGeom>
          <a:solidFill>
            <a:srgbClr val="E8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710928" y="2532888"/>
            <a:ext cx="292608" cy="292608"/>
          </a:xfrm>
          <a:prstGeom prst="rightArrow">
            <a:avLst/>
          </a:prstGeom>
          <a:solidFill>
            <a:srgbClr val="E8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Each capsule = a self-describing doc set (the same shape for every technique):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39"/>
            <a:ext cx="3611880" cy="502920"/>
          </a:xfrm>
          <a:prstGeom prst="roundRect">
            <a:avLst/>
          </a:prstGeom>
          <a:solidFill>
            <a:srgbClr val="90C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b="1" sz="1200">
                <a:solidFill>
                  <a:srgbClr val="002B5C"/>
                </a:solidFill>
                <a:latin typeface="Consolas"/>
              </a:rPr>
              <a:t>README.md  </a:t>
            </a:r>
            <a:r>
              <a:rPr sz="1100">
                <a:solidFill>
                  <a:srgbClr val="333333"/>
                </a:solidFill>
                <a:latin typeface="Calibri"/>
              </a:rPr>
              <a:t>spine: scope · hard rules · halt · THE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3977639"/>
            <a:ext cx="3611880" cy="502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b="1" sz="1200">
                <a:solidFill>
                  <a:srgbClr val="002B5C"/>
                </a:solidFill>
                <a:latin typeface="Consolas"/>
              </a:rPr>
              <a:t>ENVELOPE.md  </a:t>
            </a:r>
            <a:r>
              <a:rPr sz="1100">
                <a:solidFill>
                  <a:srgbClr val="333333"/>
                </a:solidFill>
                <a:latin typeface="Calibri"/>
              </a:rPr>
              <a:t>Fixed / Configured / Intrinsic / Derived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977639"/>
            <a:ext cx="3611880" cy="502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b="1" sz="1200">
                <a:solidFill>
                  <a:srgbClr val="002B5C"/>
                </a:solidFill>
                <a:latin typeface="Consolas"/>
              </a:rPr>
              <a:t>phase-N-*.md  </a:t>
            </a:r>
            <a:r>
              <a:rPr sz="1100">
                <a:solidFill>
                  <a:srgbClr val="333333"/>
                </a:solidFill>
                <a:latin typeface="Calibri"/>
              </a:rPr>
              <a:t>just-in-time step docs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99431"/>
            <a:ext cx="3611880" cy="502920"/>
          </a:xfrm>
          <a:prstGeom prst="roundRect">
            <a:avLst/>
          </a:prstGeom>
          <a:solidFill>
            <a:srgbClr val="90C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b="1" sz="1200">
                <a:solidFill>
                  <a:srgbClr val="002B5C"/>
                </a:solidFill>
                <a:latin typeface="Consolas"/>
              </a:rPr>
              <a:t>PARAMETERS.md  </a:t>
            </a:r>
            <a:r>
              <a:rPr sz="1100">
                <a:solidFill>
                  <a:srgbClr val="333333"/>
                </a:solidFill>
                <a:latin typeface="Calibri"/>
              </a:rPr>
              <a:t>GFM param tables → lint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59" y="4599431"/>
            <a:ext cx="3611880" cy="502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b="1" sz="1200">
                <a:solidFill>
                  <a:srgbClr val="002B5C"/>
                </a:solidFill>
                <a:latin typeface="Consolas"/>
              </a:rPr>
              <a:t>RUNBOOK.md  </a:t>
            </a:r>
            <a:r>
              <a:rPr sz="1100">
                <a:solidFill>
                  <a:srgbClr val="333333"/>
                </a:solidFill>
                <a:latin typeface="Calibri"/>
              </a:rPr>
              <a:t>volatile host/version — re-verify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599431"/>
            <a:ext cx="3611880" cy="502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b="1" sz="1200">
                <a:solidFill>
                  <a:srgbClr val="002B5C"/>
                </a:solidFill>
                <a:latin typeface="Consolas"/>
              </a:rPr>
              <a:t>DIAGNOSIS.md  </a:t>
            </a:r>
            <a:r>
              <a:rPr sz="1100">
                <a:solidFill>
                  <a:srgbClr val="333333"/>
                </a:solidFill>
                <a:latin typeface="Calibri"/>
              </a:rPr>
              <a:t>symptom → test → cause → lever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06440"/>
            <a:ext cx="11201400" cy="713232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b="1" sz="1400">
                <a:solidFill>
                  <a:srgbClr val="E87C00"/>
                </a:solidFill>
                <a:latin typeface="Calibri"/>
              </a:rPr>
              <a:t>Why it matters:  </a:t>
            </a:r>
            <a:r>
              <a:rPr sz="1350">
                <a:solidFill>
                  <a:srgbClr val="FFFFFF"/>
                </a:solidFill>
                <a:latin typeface="Calibri"/>
              </a:rPr>
              <a:t>4 techniques live today (ff / nf / pf / dfxm); extensible to all 9 techniques across 11-ID, 1-ID-E, 20-D-E, 6-ID-C …  A new beamline technique is a docs directory, not a code change.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Four wiring points: learn → scope → enforce →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Calibri"/>
              </a:defRPr>
            </a:pPr>
            <a:r>
              <a:t>How a capsule reaches the model — every tool call funnels through one chokepoint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96B"/>
                </a:solidFill>
                <a:latin typeface="Calibri"/>
              </a:defRPr>
            </a:pPr>
            <a:r>
              <a:t>On-demand (model asks):  three client-side meta-tools on the core tool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611880" cy="658368"/>
          </a:xfrm>
          <a:prstGeom prst="round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300" b="1">
                <a:solidFill>
                  <a:srgbClr val="00796B"/>
                </a:solidFill>
                <a:latin typeface="Calibri"/>
              </a:defRPr>
            </a:pPr>
            <a:r>
              <a:t>list_techniques</a:t>
            </a:r>
          </a:p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manifest of capsules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463040"/>
            <a:ext cx="3611880" cy="658368"/>
          </a:xfrm>
          <a:prstGeom prst="round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300" b="1">
                <a:solidFill>
                  <a:srgbClr val="00796B"/>
                </a:solidFill>
                <a:latin typeface="Calibri"/>
              </a:defRPr>
            </a:pPr>
            <a:r>
              <a:t>learn_technique(name)</a:t>
            </a:r>
          </a:p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load spine + halt +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998" y="1463040"/>
            <a:ext cx="3611880" cy="658368"/>
          </a:xfrm>
          <a:prstGeom prst="round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300" b="1">
                <a:solidFill>
                  <a:srgbClr val="00796B"/>
                </a:solidFill>
                <a:latin typeface="Calibri"/>
              </a:defRPr>
            </a:pPr>
            <a:r>
              <a:t>open_phase(tech, N)</a:t>
            </a:r>
          </a:p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one JIT phase doc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Automatic (every turn):  the tool call passes these gates in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97480"/>
            <a:ext cx="2514600" cy="841248"/>
          </a:xfrm>
          <a:prstGeom prst="round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 · LEARN</a:t>
            </a:r>
          </a:p>
          <a:p>
            <a:pPr algn="ctr">
              <a:defRPr sz="1050">
                <a:solidFill>
                  <a:srgbClr val="FFFFFF"/>
                </a:solidFill>
                <a:latin typeface="Calibri"/>
              </a:defRPr>
            </a:pPr>
            <a:r>
              <a:t>spine + halt injected once per</a:t>
            </a:r>
            <a:br/>
            <a:r>
              <a:t>technique on first tool fire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611880"/>
            <a:ext cx="1417320" cy="310896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fail-open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35808" y="2971800"/>
            <a:ext cx="219456" cy="292608"/>
          </a:xfrm>
          <a:prstGeom prst="rightArrow">
            <a:avLst/>
          </a:prstGeom>
          <a:solidFill>
            <a:srgbClr val="E8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2697480"/>
            <a:ext cx="2514600" cy="841248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 · SCOPE GATE</a:t>
            </a:r>
          </a:p>
          <a:p>
            <a:pPr algn="ctr">
              <a:defRPr sz="1050">
                <a:solidFill>
                  <a:srgbClr val="FFFFFF"/>
                </a:solidFill>
                <a:latin typeface="Calibri"/>
              </a:defRPr>
            </a:pPr>
            <a:r>
              <a:t>APEXA_BEAMLINE incompatible?</a:t>
            </a:r>
            <a:br/>
            <a:r>
              <a:t>tool NOT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3611880"/>
            <a:ext cx="1417320" cy="310896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fail-CLOSED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79008" y="2971800"/>
            <a:ext cx="219456" cy="292608"/>
          </a:xfrm>
          <a:prstGeom prst="rightArrow">
            <a:avLst/>
          </a:prstGeom>
          <a:solidFill>
            <a:srgbClr val="E8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89320" y="2697480"/>
            <a:ext cx="2514600" cy="841248"/>
          </a:xfrm>
          <a:prstGeom prst="roundRect">
            <a:avLst/>
          </a:prstGeom>
          <a:solidFill>
            <a:srgbClr val="E8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· ENFORCE</a:t>
            </a:r>
          </a:p>
          <a:p>
            <a:pPr algn="ctr">
              <a:defRPr sz="1050">
                <a:solidFill>
                  <a:srgbClr val="FFFFFF"/>
                </a:solidFill>
                <a:latin typeface="Calibri"/>
              </a:defRPr>
            </a:pPr>
            <a:r>
              <a:t>handbook lint: block on any</a:t>
            </a:r>
            <a:br/>
            <a:r>
              <a:t>µm-px / bound-pair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611880"/>
            <a:ext cx="1417320" cy="310896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hard block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522208" y="2971800"/>
            <a:ext cx="219456" cy="292608"/>
          </a:xfrm>
          <a:prstGeom prst="rightArrow">
            <a:avLst/>
          </a:prstGeom>
          <a:solidFill>
            <a:srgbClr val="E8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32520" y="2697480"/>
            <a:ext cx="2514600" cy="8412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76200" rIns="762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 · VERIFY</a:t>
            </a:r>
          </a:p>
          <a:p>
            <a:pPr algn="ctr">
              <a:defRPr sz="1050">
                <a:solidFill>
                  <a:srgbClr val="FFFFFF"/>
                </a:solidFill>
                <a:latin typeface="Calibri"/>
              </a:defRPr>
            </a:pPr>
            <a:r>
              <a:t>post-stage on-disk check;</a:t>
            </a:r>
            <a:br/>
            <a:r>
              <a:t>degenerate output →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3611880"/>
            <a:ext cx="1417320" cy="310896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fail-open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⬇  tool call from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931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⬇  executes, result grounded in ledger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34840"/>
            <a:ext cx="5486400" cy="1965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26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Calibri"/>
              </a:defRPr>
            </a:pPr>
            <a:r>
              <a:t>Where it lives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920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02B5C"/>
                </a:solidFill>
                <a:latin typeface="Calibri"/>
              </a:rPr>
              <a:t>▸ Meta-tools</a:t>
            </a:r>
            <a:r>
              <a:rPr sz="1250">
                <a:solidFill>
                  <a:srgbClr val="333333"/>
                </a:solidFill>
                <a:latin typeface="Calibri"/>
              </a:rPr>
              <a:t>  — apexa_toolsurface.py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002B5C"/>
                </a:solidFill>
                <a:latin typeface="Calibri"/>
              </a:rPr>
              <a:t>▸ Spine injection</a:t>
            </a:r>
            <a:r>
              <a:rPr sz="1250">
                <a:solidFill>
                  <a:srgbClr val="333333"/>
                </a:solidFill>
                <a:latin typeface="Calibri"/>
              </a:rPr>
              <a:t>  — apexa_agents.py (Mode-1 + Mode-2)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002B5C"/>
                </a:solidFill>
                <a:latin typeface="Calibri"/>
              </a:rPr>
              <a:t>▸ Scope gate</a:t>
            </a:r>
            <a:r>
              <a:rPr sz="1250">
                <a:solidFill>
                  <a:srgbClr val="333333"/>
                </a:solidFill>
                <a:latin typeface="Calibri"/>
              </a:rPr>
              <a:t>  — argo_mcp_client.py chokepoint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002B5C"/>
                </a:solidFill>
                <a:latin typeface="Calibri"/>
              </a:rPr>
              <a:t>▸ Lint + verify</a:t>
            </a:r>
            <a:r>
              <a:rPr sz="1250">
                <a:solidFill>
                  <a:srgbClr val="333333"/>
                </a:solidFill>
                <a:latin typeface="Calibri"/>
              </a:rPr>
              <a:t>  — handbook_guardrails.py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434840"/>
            <a:ext cx="5440680" cy="196596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526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C00"/>
                </a:solidFill>
                <a:latin typeface="Calibri"/>
              </a:defRPr>
            </a:pPr>
            <a:r>
              <a:t>New this cycle: guardrails now cover nf + pf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919472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load_param_facts() merges: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  FF live reference</a:t>
            </a:r>
            <a:r>
              <a:rPr sz="1250" b="1">
                <a:solidFill>
                  <a:srgbClr val="90CAF9"/>
                </a:solidFill>
                <a:latin typeface="Calibri"/>
              </a:rPr>
              <a:t>   234 keys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  vendored capsule PARAMETERS</a:t>
            </a:r>
            <a:r>
              <a:rPr sz="1250" b="1">
                <a:solidFill>
                  <a:srgbClr val="90CAF9"/>
                </a:solidFill>
                <a:latin typeface="Calibri"/>
              </a:rPr>
              <a:t>   nf 82 · pf 12  (first time)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  embedded fallback</a:t>
            </a:r>
            <a:r>
              <a:rPr sz="1250" b="1">
                <a:solidFill>
                  <a:srgbClr val="90CAF9"/>
                </a:solidFill>
                <a:latin typeface="Calibri"/>
              </a:rPr>
              <a:t>   offline-safe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shipped this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Calibri"/>
              </a:defRPr>
            </a:pPr>
            <a:r>
              <a:t>From regex prompt-guards → fact-based enforcement + generic technique adoption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0744"/>
            <a:ext cx="1234440" cy="457200"/>
          </a:xfrm>
          <a:prstGeom prst="roundRect">
            <a:avLst/>
          </a:prstGeom>
          <a:solidFill>
            <a:srgbClr val="E8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c14130b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97840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5C"/>
                </a:solidFill>
                <a:latin typeface="Calibri"/>
              </a:defRPr>
            </a:pPr>
            <a:r>
              <a:t>Technique-capsule engine + structured LLM transport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t>generic per-technique docs; scope gate; nf/pf param facts; argo-proxy provider + ledger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002536"/>
            <a:ext cx="9692640" cy="12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67128"/>
            <a:ext cx="1234440" cy="457200"/>
          </a:xfrm>
          <a:prstGeom prst="roundRect">
            <a:avLst/>
          </a:prstGeom>
          <a:solidFill>
            <a:srgbClr val="005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5b52f36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20824"/>
            <a:ext cx="97840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5C"/>
                </a:solidFill>
                <a:latin typeface="Calibri"/>
              </a:defRPr>
            </a:pPr>
            <a:r>
              <a:t>Generic handbook-sourced FF lint engine + post-stage verifier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t>guardrails from the handbook, not per-failure if-statements; on-disk output verify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788920"/>
            <a:ext cx="9692640" cy="12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953512"/>
            <a:ext cx="1234440" cy="457200"/>
          </a:xfrm>
          <a:prstGeom prst="roundRect">
            <a:avLst/>
          </a:prstGeom>
          <a:solidFill>
            <a:srgbClr val="005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ac2c022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807208"/>
            <a:ext cx="97840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5C"/>
                </a:solidFill>
                <a:latin typeface="Calibri"/>
              </a:defRPr>
            </a:pPr>
            <a:r>
              <a:t>Single-mode query-matched skills + BoxSize / ω-window lint traps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t>the right skill per query; catch collapsed-span &amp; degenerate bound pairs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3575304"/>
            <a:ext cx="9692640" cy="12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739896"/>
            <a:ext cx="1234440" cy="457200"/>
          </a:xfrm>
          <a:prstGeom prst="roundRect">
            <a:avLst/>
          </a:prstGeom>
          <a:solidFill>
            <a:srgbClr val="005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2473d58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93592"/>
            <a:ext cx="97840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5C"/>
                </a:solidFill>
                <a:latin typeface="Calibri"/>
              </a:defRPr>
            </a:pPr>
            <a:r>
              <a:t>Load Skills into agent context + block px-for-µm FF params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t>verified procedure in-context before the model edits a param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4361688"/>
            <a:ext cx="9692640" cy="12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526280"/>
            <a:ext cx="1234440" cy="457200"/>
          </a:xfrm>
          <a:prstGeom prst="round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71f71cc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379976"/>
            <a:ext cx="97840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5C"/>
                </a:solidFill>
                <a:latin typeface="Calibri"/>
              </a:defRPr>
            </a:pPr>
            <a:r>
              <a:t>Refresh Argo model catalog (Opus 5 default) + rm deletion gate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t>current model list; every rm/rmdir/unlink needs live human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5148072"/>
            <a:ext cx="9692640" cy="12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440680"/>
            <a:ext cx="11201400" cy="105156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ctr"/>
            <a:r>
              <a:rPr b="1" sz="1500">
                <a:solidFill>
                  <a:srgbClr val="E87C00"/>
                </a:solidFill>
                <a:latin typeface="Calibri"/>
              </a:rPr>
              <a:t>Net effect:  </a:t>
            </a:r>
            <a:r>
              <a:rPr sz="1350">
                <a:solidFill>
                  <a:srgbClr val="FFFFFF"/>
                </a:solidFill>
                <a:latin typeface="Calibri"/>
              </a:rPr>
              <a:t>must-never-violate rules are enforced from recorded execution state, not hoped-for in a prompt. Adding a guardrail = editing a handbook or one cited row. Adopting a technique = vendoring its docs.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